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Steven, this is Nicholas. We spent the semester building and</a:t>
            </a:r>
          </a:p>
          <a:p>
            <a:r>
              <a:t>breaking a WireGuard deployment.</a:t>
            </a:r>
          </a:p>
          <a:p/>
          <a:p>
            <a:r>
              <a:t>WireGuard is a modern VPN. It encrypts your traffic well, but it doesn't</a:t>
            </a:r>
          </a:p>
          <a:p>
            <a:r>
              <a:t>try to hide that you're running a VPN — that's an explicit design choice</a:t>
            </a:r>
          </a:p>
          <a:p>
            <a:r>
              <a:t>by its author. The question we're asking is whether the most popular</a:t>
            </a:r>
          </a:p>
          <a:p>
            <a:r>
              <a:t>tool people use to hide WireGuard actually hides it. The tool is called</a:t>
            </a:r>
          </a:p>
          <a:p>
            <a:r>
              <a:t>udp2raw. About 260,000 downloads, used in Iran and China, zero</a:t>
            </a:r>
          </a:p>
          <a:p>
            <a:r>
              <a:t>peer-reviewed analysis until this paper.</a:t>
            </a:r>
          </a:p>
          <a:p/>
          <a:p>
            <a:r>
              <a:t>Two results. An active attack: send five test packets, identify a</a:t>
            </a:r>
          </a:p>
          <a:p>
            <a:r>
              <a:t>udp2raw server in 8.5 seconds. A passive attack: watch traffic, measure</a:t>
            </a:r>
          </a:p>
          <a:p>
            <a:r>
              <a:t>two things about it, classifier hits 99.9%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WireGuard packet starts with the same four bytes — a type byte</a:t>
            </a:r>
          </a:p>
          <a:p>
            <a:r>
              <a:t>that's always 1, 2, 3, or 4, followed by three zero bytes. The</a:t>
            </a:r>
          </a:p>
          <a:p>
            <a:r>
              <a:t>handshake packets are also fixed sizes: 148, 92, and 64 bytes. So you</a:t>
            </a:r>
          </a:p>
          <a:p>
            <a:r>
              <a:t>can identify WireGuard without decrypting anything, just by looking at</a:t>
            </a:r>
          </a:p>
          <a:p>
            <a:r>
              <a:t>the first four bytes and the length. Twenty-five lines of Python is the</a:t>
            </a:r>
          </a:p>
          <a:p>
            <a:r>
              <a:t>whole detector. The Wu et al. paper at USENIX Security 2023 confirms</a:t>
            </a:r>
          </a:p>
          <a:p>
            <a:r>
              <a:t>the Great Firewall does exactly this.</a:t>
            </a:r>
          </a:p>
          <a:p/>
          <a:p>
            <a:r>
              <a:t>Important caveat: this is not a WireGuard vulnerability. Donenfeld's</a:t>
            </a:r>
          </a:p>
          <a:p>
            <a:r>
              <a:t>original 2017 paper explicitly says hiding the VPN's existence is out</a:t>
            </a:r>
          </a:p>
          <a:p>
            <a:r>
              <a:t>of scope — that's a job for a separate tool. The question isn't "can</a:t>
            </a:r>
          </a:p>
          <a:p>
            <a:r>
              <a:t>you detect WireGuard," it's "can you detect it once it's wrapped in</a:t>
            </a:r>
          </a:p>
          <a:p>
            <a:r>
              <a:t>the most popular hiding tool." That tool is udp2raw, which is the</a:t>
            </a:r>
          </a:p>
          <a:p>
            <a:r>
              <a:t>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paths through our lab, same WireGuard keys both ways, only the</a:t>
            </a:r>
          </a:p>
          <a:p>
            <a:r>
              <a:t>outer transport differs. Direct path: WireGuard packets ride UDP</a:t>
            </a:r>
          </a:p>
          <a:p>
            <a:r>
              <a:t>directly — the path the Great Firewall already detects. Obfuscated</a:t>
            </a:r>
          </a:p>
          <a:p>
            <a:r>
              <a:t>path: udp2raw rewraps each WireGuard packet to look like a TCP segment</a:t>
            </a:r>
          </a:p>
          <a:p>
            <a:r>
              <a:t>on port 4096. udp2raw calls this "faketcp" — it's not a real TCP</a:t>
            </a:r>
          </a:p>
          <a:p>
            <a:r>
              <a:t>connection underneath, just shaped like one. TCP looks normal because</a:t>
            </a:r>
          </a:p>
          <a:p>
            <a:r>
              <a:t>it's what web browsers use.</a:t>
            </a:r>
          </a:p>
          <a:p/>
          <a:p>
            <a:r>
              <a:t>Why udp2raw specifically. Roughly 259,000 binary downloads — actual</a:t>
            </a:r>
          </a:p>
          <a:p>
            <a:r>
              <a:t>runs, not GitHub stars. Reportedly blocked at the ISP level in Iran</a:t>
            </a:r>
          </a:p>
          <a:p>
            <a:r>
              <a:t>(udp2raw issue #505, net4people thread #253). And zero peer-reviewed</a:t>
            </a:r>
          </a:p>
          <a:p>
            <a:r>
              <a:t>analysis: we searched USENIX, NDSS, IMC, FOCI, PETS, CCS. Nothing.</a:t>
            </a:r>
          </a:p>
          <a:p/>
          <a:p>
            <a:r>
              <a:t>Other tools like AmneziaWG and swgp-go modify WireGuard itself — that's</a:t>
            </a:r>
          </a:p>
          <a:p>
            <a:r>
              <a:t>a different category. udp2raw is the only big, unstudied tool in the</a:t>
            </a:r>
          </a:p>
          <a:p>
            <a:r>
              <a:t>"wrap it generically" category, so that's our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attacks. "Active" means we send packets and watch the reply;</a:t>
            </a:r>
          </a:p>
          <a:p>
            <a:r>
              <a:t>"passive" means we just watch traffic going by. We didn't invent this</a:t>
            </a:r>
          </a:p>
          <a:p>
            <a:r>
              <a:t>pattern — the Xue et al. Distinguished Paper at USENIX Security 2022</a:t>
            </a:r>
          </a:p>
          <a:p>
            <a:r>
              <a:t>did it for OpenVPN. We apply the same template to WireGuard-in-udp2raw,</a:t>
            </a:r>
          </a:p>
          <a:p>
            <a:r>
              <a:t>which they didn't cover.</a:t>
            </a:r>
          </a:p>
          <a:p/>
          <a:p>
            <a:r>
              <a:t>Left card, C1, active: five TCP probes, under nine seconds, same answer</a:t>
            </a:r>
          </a:p>
          <a:p>
            <a:r>
              <a:t>every time. Walking through the actual probes on the next slide.</a:t>
            </a:r>
          </a:p>
          <a:p/>
          <a:p>
            <a:r>
              <a:t>Right card, C2, passive: for each traffic flow — meaning one</a:t>
            </a:r>
          </a:p>
          <a:p>
            <a:r>
              <a:t>conversation between two computers — we compute two numbers and feed</a:t>
            </a:r>
          </a:p>
          <a:p>
            <a:r>
              <a:t>them to a Random Forest, which is a standard machine-learning model</a:t>
            </a:r>
          </a:p>
          <a:p>
            <a:r>
              <a:t>that learns rules from examples. The two numbers come from how the</a:t>
            </a:r>
          </a:p>
          <a:p>
            <a:r>
              <a:t>protocols are written: WireGuard pads every packet to the maximum size,</a:t>
            </a:r>
          </a:p>
          <a:p>
            <a:r>
              <a:t>and udp2raw acknowledges every wrapped packet one-for-one. Those are</a:t>
            </a:r>
          </a:p>
          <a:p>
            <a:r>
              <a:t>mechanical, not statistical.</a:t>
            </a:r>
          </a:p>
          <a:p/>
          <a:p>
            <a:r>
              <a:t>Trained on 24 WireGuard flows we captured ourselves, plus 1058 normal</a:t>
            </a:r>
          </a:p>
          <a:p>
            <a:r>
              <a:t>flows from ISCXVPN2016 — the standard public dataset for this kind of</a:t>
            </a:r>
          </a:p>
          <a:p>
            <a:r>
              <a:t>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columns, same server, three ports. Port 22 is real SSH — our</a:t>
            </a:r>
          </a:p>
          <a:p>
            <a:r>
              <a:t>real-TCP control. Port 4096 is udp2raw. Port 9999 is closed — negative</a:t>
            </a:r>
          </a:p>
          <a:p>
            <a:r>
              <a:t>control. TCP terms in the table: SYN starts a connection, SYN-ACK</a:t>
            </a:r>
          </a:p>
          <a:p>
            <a:r>
              <a:t>accepts it, RST rejects, FIN closes.</a:t>
            </a:r>
          </a:p>
          <a:p/>
          <a:p>
            <a:r>
              <a:t>The two orange "silent" probes don't help: udp2raw answers SYN</a:t>
            </a:r>
          </a:p>
          <a:p>
            <a:r>
              <a:t>because that's the disguise, and the kernel — not udp2raw — generates</a:t>
            </a:r>
          </a:p>
          <a:p>
            <a:r>
              <a:t>the RST on the bogus ACK.</a:t>
            </a:r>
          </a:p>
          <a:p/>
          <a:p>
            <a:r>
              <a:t>The signal is the other three. Probe 2 is a SYN with 32 bytes of</a:t>
            </a:r>
          </a:p>
          <a:p>
            <a:r>
              <a:t>payload. Probe 4 is a SYN with an unusual TCP option. Probe 5 is a FIN</a:t>
            </a:r>
          </a:p>
          <a:p>
            <a:r>
              <a:t>to a port with no connection. A real Linux kernel answers all three.</a:t>
            </a:r>
          </a:p>
          <a:p>
            <a:r>
              <a:t>udp2raw drops all three because its parser was written for one specific</a:t>
            </a:r>
          </a:p>
          <a:p>
            <a:r>
              <a:t>TCP shape. Count silent responses: real TCP scores 0, udp2raw scores 3.</a:t>
            </a:r>
          </a:p>
          <a:p/>
          <a:p>
            <a:r>
              <a:t>Timing: half a second for real TCP, 8.5 seconds for udp2raw (we wait</a:t>
            </a:r>
          </a:p>
          <a:p>
            <a:r>
              <a:t>out timeouts on the silent probes), 15.5 for the closed port. Same</a:t>
            </a:r>
          </a:p>
          <a:p>
            <a:r>
              <a:t>verdict 5 out of 5 trials.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features. First: bulk_fraction is the share of packets in a flow</a:t>
            </a:r>
          </a:p>
          <a:p>
            <a:r>
              <a:t>that are big — 1200 bytes or more. The reason it works: WireGuard pads</a:t>
            </a:r>
          </a:p>
          <a:p>
            <a:r>
              <a:t>every packet up to near the MTU, the maximum packet size on the link,</a:t>
            </a:r>
          </a:p>
          <a:p>
            <a:r>
              <a:t>about 1500 bytes. Web browsers don't. WireGuard flows are 55% big</a:t>
            </a:r>
          </a:p>
          <a:p>
            <a:r>
              <a:t>packets; normal traffic is 2%. The "Cohen's d" column is a standard</a:t>
            </a:r>
          </a:p>
          <a:p>
            <a:r>
              <a:t>measure of how cleanly two groups separate; anything over 0.8 is "large,"</a:t>
            </a:r>
          </a:p>
          <a:p>
            <a:r>
              <a:t>and we get 3.83.</a:t>
            </a:r>
          </a:p>
          <a:p/>
          <a:p>
            <a:r>
              <a:t>Second feature: ack60_fraction, the share of 60-byte TCP ACK packets.</a:t>
            </a:r>
          </a:p>
          <a:p>
            <a:r>
              <a:t>Normal TCP uses "delayed ACK" — one acknowledgment per two data</a:t>
            </a:r>
          </a:p>
          <a:p>
            <a:r>
              <a:t>packets, so about 33% ACKs. udp2raw breaks this. It wraps each</a:t>
            </a:r>
          </a:p>
          <a:p>
            <a:r>
              <a:t>WireGuard packet as one separate TCP segment, the kernel ACKs each</a:t>
            </a:r>
          </a:p>
          <a:p>
            <a:r>
              <a:t>arrival individually, and the ACK fraction climbs. We measure 30% for</a:t>
            </a:r>
          </a:p>
          <a:p>
            <a:r>
              <a:t>WireGuard-in-udp2raw vs. 7% for normal traffic. Cohen's d of 1.27 —</a:t>
            </a:r>
          </a:p>
          <a:p>
            <a:r>
              <a:t>still a large effect.</a:t>
            </a:r>
          </a:p>
          <a:p/>
          <a:p>
            <a:r>
              <a:t>Scatter on the right: 1082 flows total. Orange is WireGuard, grey is</a:t>
            </a:r>
          </a:p>
          <a:p>
            <a:r>
              <a:t>normal traffic. They barely overlap. All 24 WireGuard flows have</a:t>
            </a:r>
          </a:p>
          <a:p>
            <a:r>
              <a:t>bulk_fraction at least 0.32. Only 4 of 1058 normal flows fall anywhere</a:t>
            </a:r>
          </a:p>
          <a:p>
            <a:r>
              <a:t>near the WireGuard cluster.</a:t>
            </a:r>
          </a:p>
          <a:p/>
          <a:p>
            <a:r>
              <a:t>Orange note bottom-left, brief story on scientific honesty. Going in, I</a:t>
            </a:r>
          </a:p>
          <a:p>
            <a:r>
              <a:t>expected dominant_size_fraction — how concentrated the most common</a:t>
            </a:r>
          </a:p>
          <a:p>
            <a:r>
              <a:t>packet size is — to be the killer feature. The real data inverted that:</a:t>
            </a:r>
          </a:p>
          <a:p>
            <a:r>
              <a:t>the public dataset has lots of idle keepalive flows where every packet</a:t>
            </a:r>
          </a:p>
          <a:p>
            <a:r>
              <a:t>is identical, so they score higher than WireGuard does. We dropped that</a:t>
            </a:r>
          </a:p>
          <a:p>
            <a:r>
              <a:t>feature. The two that survived are the ones grounded in protocol</a:t>
            </a:r>
          </a:p>
          <a:p>
            <a:r>
              <a:t>mechanics, not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numbers, with definitions since some of these terms aren't</a:t>
            </a:r>
          </a:p>
          <a:p>
            <a:r>
              <a:t>universal.</a:t>
            </a:r>
          </a:p>
          <a:p/>
          <a:p>
            <a:r>
              <a:t>Accuracy 99.91% — overall fraction labeled correctly.</a:t>
            </a:r>
          </a:p>
          <a:p>
            <a:r>
              <a:t>Precision 1.000 — when we say "WireGuard," we're always right. Zero</a:t>
            </a:r>
          </a:p>
          <a:p>
            <a:r>
              <a:t>false alarms on 1058 normal flows.</a:t>
            </a:r>
          </a:p>
          <a:p>
            <a:r>
              <a:t>Recall 0.958 — we catch 23 of the 24 actual WireGuard flows. One slips</a:t>
            </a:r>
          </a:p>
          <a:p>
            <a:r>
              <a:t>through.</a:t>
            </a:r>
          </a:p>
          <a:p>
            <a:r>
              <a:t>ROC AUC 1.000 — a single number from 0.5 (random) to 1.0 (perfect)</a:t>
            </a:r>
          </a:p>
          <a:p>
            <a:r>
              <a:t>that scores the classifier across all sensitivity settings. We're at</a:t>
            </a:r>
          </a:p>
          <a:p>
            <a:r>
              <a:t>the ceiling.</a:t>
            </a:r>
          </a:p>
          <a:p/>
          <a:p>
            <a:r>
              <a:t>Small table below: adding more features doesn't help. The 8-feature</a:t>
            </a:r>
          </a:p>
          <a:p>
            <a:r>
              <a:t>Random Forest catches one fewer WireGuard flow than the 2-feature</a:t>
            </a:r>
          </a:p>
          <a:p>
            <a:r>
              <a:t>version — extra features added noise, not signal. Logistic regression</a:t>
            </a:r>
          </a:p>
          <a:p>
            <a:r>
              <a:t>(LR), which is a simpler model that draws a straight line between the</a:t>
            </a:r>
          </a:p>
          <a:p>
            <a:r>
              <a:t>classes, catches everything but pays with 3% false alarms because the</a:t>
            </a:r>
          </a:p>
          <a:p>
            <a:r>
              <a:t>real boundary isn't straight.</a:t>
            </a:r>
          </a:p>
          <a:p/>
          <a:p>
            <a:r>
              <a:t>Right side. Confusion matrix on top — that's the 2x2 grid of correct</a:t>
            </a:r>
          </a:p>
          <a:p>
            <a:r>
              <a:t>and incorrect labels. Almost everything sits on the diagonal. ROC curve</a:t>
            </a:r>
          </a:p>
          <a:p>
            <a:r>
              <a:t>on the bottom hugs the top-left corner, which is the shape of a</a:t>
            </a:r>
          </a:p>
          <a:p>
            <a:r>
              <a:t>near-perfect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Lit positioning so the audience knows we read. The Xue group at</a:t>
            </a:r>
          </a:p>
          <a:p>
            <a:r>
              <a:t>Michigan has the dominant line. Their 2022 OpenVPN paper is our</a:t>
            </a:r>
          </a:p>
          <a:p>
            <a:r>
              <a:t>methodology template. Their 2024 paper detects nested TLS handshakes —</a:t>
            </a:r>
          </a:p>
          <a:p>
            <a:r>
              <a:t>doesn't fire on WireGuard because WireGuard doesn't use TLS. Their 2025</a:t>
            </a:r>
          </a:p>
          <a:p>
            <a:r>
              <a:t>NDSS paper uses cross-layer round-trip-time anomalies — attenuates on</a:t>
            </a:r>
          </a:p>
          <a:p>
            <a:r>
              <a:t>short UDP flows like ours. So those protocol-agnostic methods don't</a:t>
            </a:r>
          </a:p>
          <a:p>
            <a:r>
              <a:t>already solve the WireGuard-in-udp2raw case. Protocol-specific</a:t>
            </a:r>
          </a:p>
          <a:p>
            <a:r>
              <a:t>structural features remain the available approach.</a:t>
            </a:r>
          </a:p>
          <a:p/>
          <a:p>
            <a:r>
              <a:t>Right side, what we are NOT claiming. Single client and server, no</a:t>
            </a:r>
          </a:p>
          <a:p>
            <a:r>
              <a:t>ISP-scale data. One version of udp2raw — later forks may differ. Both</a:t>
            </a:r>
          </a:p>
          <a:p>
            <a:r>
              <a:t>attacks are defeatable by a maintainer who patches the tool — delayed</a:t>
            </a:r>
          </a:p>
          <a:p>
            <a:r>
              <a:t>ACK plus a smaller WireGuard MTU weakens C2. The bogus-ACK probe is</a:t>
            </a:r>
          </a:p>
          <a:p>
            <a:r>
              <a:t>mildly hostile, so an adversary would fire it only at already-suspected</a:t>
            </a:r>
          </a:p>
          <a:p>
            <a:r>
              <a:t>hosts. And we didn't compare against AmneziaWG, swgp-go, or wstunnel —</a:t>
            </a:r>
          </a:p>
          <a:p>
            <a:r>
              <a:t>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takeaways.</a:t>
            </a:r>
          </a:p>
          <a:p/>
          <a:p>
            <a:r>
              <a:t>One. WireGuard's wire format leaks. Known result; we re-implement it as</a:t>
            </a:r>
          </a:p>
          <a:p>
            <a:r>
              <a:t>our baseline.</a:t>
            </a:r>
          </a:p>
          <a:p/>
          <a:p>
            <a:r>
              <a:t>Two. udp2raw doesn't actually fix it. 8.5 seconds with the five-packet</a:t>
            </a:r>
          </a:p>
          <a:p>
            <a:r>
              <a:t>prober, or two passive features at AUC 1.0. Pick your weapon.</a:t>
            </a:r>
          </a:p>
          <a:p/>
          <a:p>
            <a:r>
              <a:t>Three. Not a statistical fluke. WireGuard pads to MTU because that's</a:t>
            </a:r>
          </a:p>
          <a:p>
            <a:r>
              <a:t>its design. udp2raw acks 1:1 because that's how it wraps. udp2raw drops</a:t>
            </a:r>
          </a:p>
          <a:p>
            <a:r>
              <a:t>unfamiliar TCP shapes because its parser was written for one shape.</a:t>
            </a:r>
          </a:p>
          <a:p>
            <a:r>
              <a:t>Mechanical consequences, not accidents.</a:t>
            </a:r>
          </a:p>
          <a:p/>
          <a:p>
            <a:r>
              <a:t>Four. Defenses are obvious. Delayed ACK plus a smaller WireGuard MTU</a:t>
            </a:r>
          </a:p>
          <a:p>
            <a:r>
              <a:t>kills C2. More conformant TCP emulation kills C1. We sketch both in the</a:t>
            </a:r>
          </a:p>
          <a:p>
            <a:r>
              <a:t>paper but didn't patch the upstream tool. Somebody else's pull request</a:t>
            </a:r>
          </a:p>
          <a:p>
            <a:r>
              <a:t>to write.</a:t>
            </a:r>
          </a:p>
          <a:p/>
          <a:p>
            <a:r>
              <a:t>Happy to take questions. Live demo ready if there's interest.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102A43"/>
                </a:solidFill>
                <a:latin typeface="Calibri"/>
              </a:rPr>
              <a:t>Two-Feature Detection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102A43"/>
                </a:solidFill>
                <a:latin typeface="Calibri"/>
              </a:rPr>
              <a:t>WireGuard-in-udp2raw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703320"/>
            <a:ext cx="22860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55555"/>
                </a:solidFill>
                <a:latin typeface="Calibri"/>
              </a:rPr>
              <a:t>A Probe-and-Classify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21208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01010"/>
                </a:solidFill>
                <a:latin typeface="Calibri"/>
              </a:rPr>
              <a:t>Steven Schiavone   ·   Nicholas Johannsen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778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Seidenberg School of CSIS · Pace University · CYB623,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02A43"/>
                </a:solidFill>
                <a:latin typeface="Calibri"/>
              </a:rPr>
              <a:t>WireGuard is encrypted, but not unobservable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9144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Strong cryptography is not the same as traffic that hides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01010"/>
                </a:solidFill>
                <a:latin typeface="Calibri"/>
              </a:rPr>
              <a:t>Every WireGuard message starts with this 4-byte header: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7772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02A43"/>
                </a:solidFill>
                <a:latin typeface="Consolas"/>
              </a:rPr>
              <a:t>+---------+-------------------+
| type(1) | reserved zero (3) | …rest of message
+---------+-------------------+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1118585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101010"/>
                </a:solidFill>
                <a:latin typeface="Calibri"/>
              </a:rPr>
              <a:t>•   type byte ∈ {0x01, 0x02, 0x03, 0x04}; the next three bytes are zero.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101010"/>
                </a:solidFill>
                <a:latin typeface="Calibri"/>
              </a:rPr>
              <a:t>•   Handshake messages are exactly 148 / 92 / 64 bytes.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101010"/>
                </a:solidFill>
                <a:latin typeface="Calibri"/>
              </a:rPr>
              <a:t>•   Three concatenated checks identify a WireGuard handshake with negligible false-positive risk.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101010"/>
                </a:solidFill>
                <a:latin typeface="Calibri"/>
              </a:rPr>
              <a:t>•   A 25-line Python predicate is the full detector. We re-implement it as our baseline.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101010"/>
                </a:solidFill>
                <a:latin typeface="Calibri"/>
              </a:rPr>
              <a:t>•   Reported in production by the Great Firewall (Wu et al., USENIX Security ’23).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9462C"/>
                </a:solidFill>
                <a:latin typeface="Calibri"/>
              </a:rPr>
              <a:t>Donenfeld’s WireGuard whitepaper (NDSS ’17) explicitly leaves obfuscation out of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02A43"/>
                </a:solidFill>
                <a:latin typeface="Calibri"/>
              </a:rPr>
              <a:t>udp2raw: the obfuscation shim, and the literature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9144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Wraps WireGuard's UDP datagrams as TCP-shaped packets in userspace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End-to-end paths under test (same WG keys, same inner IPs; only the transport differs):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410047" cy="1280160"/>
          </a:xfrm>
          <a:prstGeom prst="roundRect">
            <a:avLst/>
          </a:prstGeom>
          <a:solidFill>
            <a:srgbClr val="F2F2F2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 rIns="127000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02A43"/>
                </a:solidFill>
                <a:latin typeface="Calibri"/>
              </a:rPr>
              <a:t>Direct (passive-detectable)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01010"/>
                </a:solidFill>
                <a:latin typeface="Consolas"/>
              </a:rPr>
              <a:t>Kali wg client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C9462C"/>
                </a:solidFill>
                <a:latin typeface="Consolas"/>
              </a:rPr>
              <a:t>↓  UDP / 51820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01010"/>
                </a:solidFill>
                <a:latin typeface="Consolas"/>
              </a:rPr>
              <a:t>OCI wg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011680"/>
            <a:ext cx="5410047" cy="1280160"/>
          </a:xfrm>
          <a:prstGeom prst="roundRect">
            <a:avLst/>
          </a:prstGeom>
          <a:solidFill>
            <a:srgbClr val="F2F2F2"/>
          </a:solidFill>
          <a:ln>
            <a:solidFill>
              <a:srgbClr val="C9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 rIns="127000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462C"/>
                </a:solidFill>
                <a:latin typeface="Calibri"/>
              </a:rPr>
              <a:t>Obfuscated (this paper's target)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wg client  →  udp2raw client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C9462C"/>
                </a:solidFill>
                <a:latin typeface="Consolas"/>
              </a:rPr>
              <a:t>↓  TCP / 4096  (faketcp)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udp2raw server  →  wg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2A43"/>
                </a:solidFill>
                <a:latin typeface="Calibri"/>
              </a:rPr>
              <a:t>Why udp2raw, specifically: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8585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01010"/>
                </a:solidFill>
                <a:latin typeface="Calibri"/>
              </a:rPr>
              <a:t>•   ≈259,000 release-binary downloads on the primary repo, +41,000 on the multiplatform fork (GitHub API, May 2026).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01010"/>
                </a:solidFill>
                <a:latin typeface="Calibri"/>
              </a:rPr>
              <a:t>•   Reported blocked by state-level DPI in Iran and elsewhere (udp2raw issue #505, net4people thread #253).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01010"/>
                </a:solidFill>
                <a:latin typeface="Calibri"/>
              </a:rPr>
              <a:t>•   Cited in the WireGuard project's own “Known Limitations” page.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01010"/>
                </a:solidFill>
                <a:latin typeface="Calibri"/>
              </a:rPr>
              <a:t>•   No peer-reviewed analysis. Searched USENIX, NDSS, IMC, FOCI, PETS, CCS.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02A43"/>
                </a:solidFill>
                <a:latin typeface="Calibri"/>
              </a:rPr>
              <a:t>Two attacks, one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9144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Following Xue et al.'s active-then-passive pattern (USENIX Security ’22) for OpenVPN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364327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77800" rIns="203200" wrap="square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02A43"/>
                </a:solidFill>
                <a:latin typeface="Calibri"/>
              </a:rPr>
              <a:t>C1 · Active prober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01010"/>
                </a:solidFill>
                <a:latin typeface="Calibri"/>
              </a:rPr>
              <a:t>•   Send 5 stateless TCP probes to (IP, port).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01010"/>
                </a:solidFill>
                <a:latin typeface="Calibri"/>
              </a:rPr>
              <a:t>•   Real Linux TCP answers all 5.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01010"/>
                </a:solidFill>
                <a:latin typeface="Calibri"/>
              </a:rPr>
              <a:t>•   udp2raw answers SYN, drops 3 of 4 follow-ups.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01010"/>
                </a:solidFill>
                <a:latin typeface="Calibri"/>
              </a:rPr>
              <a:t>•   Verdict in ≤ 9 seconds. Same verdict 5/5 trials.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Adversary cost:  ≈ 1.7 KB and ≈ 9 s per host.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554480"/>
            <a:ext cx="5364327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9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77800" rIns="203200" wrap="square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C9462C"/>
                </a:solidFill>
                <a:latin typeface="Calibri"/>
              </a:rPr>
              <a:t>C2 · Two-feature classifier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01010"/>
                </a:solidFill>
                <a:latin typeface="Calibri"/>
              </a:rPr>
              <a:t>•   bulk_fraction:  share of MTU-class packets.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01010"/>
                </a:solidFill>
                <a:latin typeface="Calibri"/>
              </a:rPr>
              <a:t>•   ack60_fraction:  share of 60-byte TCP ACKs.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01010"/>
                </a:solidFill>
                <a:latin typeface="Calibri"/>
              </a:rPr>
              <a:t>•   Both fall out of how the protocols are written, not statistical luck.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01010"/>
                </a:solidFill>
                <a:latin typeface="Calibri"/>
              </a:rPr>
              <a:t>•   Random Forest:  99.9 % accuracy, AUC = 1.000.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Trained on 24 WG flows + 1058 ISCXVPN2016 non-VPN 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02A43"/>
                </a:solidFill>
                <a:latin typeface="Calibri"/>
              </a:rPr>
              <a:t>C1: one set of probes distinguishes udp2raw from real TCP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9144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Three targets on the same OCI host. Same verdict in 5/5 repeated trials.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Probe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544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TCP/22  (real SSH)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TCP/4096  (udp2raw)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554480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TCP/9999  (closed)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185855" cy="3175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P1   SYN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2996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SYN-ACK in 181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2996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SYN-ACK in 163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02996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no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P2   SYN + 32 B payload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39572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SYN-ACK + 2 B echo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9572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462C"/>
                </a:solidFill>
                <a:latin typeface="Consolas"/>
              </a:rPr>
              <a:t>silent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39572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no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6148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P3   bogus-seq 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76148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RST in 81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76148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RST in 91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76148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no 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12724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P4   SYN, WS =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12724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SYN-ACK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12724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462C"/>
                </a:solidFill>
                <a:latin typeface="Consolas"/>
              </a:rPr>
              <a:t>silent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12724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no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9300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P5   FIN to unopened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493008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93008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462C"/>
                </a:solidFill>
                <a:latin typeface="Consolas"/>
              </a:rPr>
              <a:t>silent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493008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onsolas"/>
              </a:rPr>
              <a:t>no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95928"/>
            <a:ext cx="11185855" cy="3175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60520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Total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16052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010"/>
                </a:solidFill>
                <a:latin typeface="Consolas"/>
              </a:rPr>
              <a:t>0.5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16052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010"/>
                </a:solidFill>
                <a:latin typeface="Consolas"/>
              </a:rPr>
              <a:t>8.5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160520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010"/>
                </a:solidFill>
                <a:latin typeface="Consolas"/>
              </a:rPr>
              <a:t>15.5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526280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Verdict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526280"/>
            <a:ext cx="2834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010"/>
                </a:solidFill>
                <a:latin typeface="Consolas"/>
              </a:rPr>
              <a:t>REAL_TCP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526280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9462C"/>
                </a:solidFill>
                <a:latin typeface="Consolas"/>
              </a:rPr>
              <a:t>UDP2RAW_FAKETCP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526280"/>
            <a:ext cx="2606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1010"/>
                </a:solidFill>
                <a:latin typeface="Consolas"/>
              </a:rPr>
              <a:t>UNREACHABLE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66928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Discriminator: count silent responses among {P2, P4, P5}.  Real TCP answers all three.  udp2raw answers none.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02A43"/>
                </a:solidFill>
                <a:latin typeface="Calibri"/>
              </a:rPr>
              <a:t>C2: two features carry the entire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9144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Class means across 24 WireGuard flows and 1058 ISCXVPN2016 non-VPN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Calibri"/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554480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Calibri"/>
              </a:rPr>
              <a:t>WireGuard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Calibri"/>
              </a:rPr>
              <a:t>Non-VPN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55448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Calibri"/>
              </a:rPr>
              <a:t>Cohen's 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6263640" cy="3175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010"/>
                </a:solidFill>
                <a:latin typeface="Calibri"/>
              </a:rPr>
              <a:t>bulk_fraction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3852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010"/>
                </a:solidFill>
                <a:latin typeface="Consolas"/>
              </a:rPr>
              <a:t>0.553 ± 0.186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3852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010"/>
                </a:solidFill>
                <a:latin typeface="Consolas"/>
              </a:rPr>
              <a:t>0.019 ± 0.066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38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462C"/>
                </a:solidFill>
                <a:latin typeface="Consolas"/>
              </a:rPr>
              <a:t>3.83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67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010"/>
                </a:solidFill>
                <a:latin typeface="Calibri"/>
              </a:rPr>
              <a:t>ack60_fraction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67712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010"/>
                </a:solidFill>
                <a:latin typeface="Consolas"/>
              </a:rPr>
              <a:t>0.295 ± 0.187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6771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1010"/>
                </a:solidFill>
                <a:latin typeface="Consolas"/>
              </a:rPr>
              <a:t>0.069 ± 0.169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2677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462C"/>
                </a:solidFill>
                <a:latin typeface="Consolas"/>
              </a:rPr>
              <a:t>1.27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33472"/>
            <a:ext cx="6263640" cy="127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len_entropy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7432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1.94 ± 0.82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4320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1.23 ± 1.42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7432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358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dominant_size_frac.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035808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0.50 ± 0.19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3580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0.71 ± 0.30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03580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(inv.)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328415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top3_size_fraction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32841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0.88 ± 0.15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328415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0.87 ± 0.19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328415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621023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rate_pps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621023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3.23 ± 0.90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621023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3.37 ± 30.27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621023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onsolas"/>
              </a:rPr>
              <a:t>—</a:t>
            </a:r>
          </a:p>
        </p:txBody>
      </p:sp>
      <p:pic>
        <p:nvPicPr>
          <p:cNvPr id="35" name="Picture 34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629" y="1508760"/>
            <a:ext cx="4449236" cy="3840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3720" y="5394959"/>
            <a:ext cx="4785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All 1082 flows in the two-feature space. 24/24 WG flows have bulk_fraction ≥ 0.32; only 4/1058 non-VPN flows fall in the (≥0.2, ≥0.15) corner.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32120"/>
            <a:ext cx="6263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462C"/>
                </a:solidFill>
                <a:latin typeface="Calibri"/>
              </a:rPr>
              <a:t>Naive intuition picked dominant_size_fraction. Real-world background INVERTS that signal (many idle flows are degenerately concentrated).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02A43"/>
                </a:solidFill>
                <a:latin typeface="Calibri"/>
              </a:rPr>
              <a:t>C2: two-feature Random Forest hits 99.9 %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9144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5-fold stratified cross-validation; class-balanced; n = 1082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2A43"/>
                </a:solidFill>
                <a:latin typeface="Calibri"/>
              </a:rPr>
              <a:t>Two-feature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462C"/>
                </a:solidFill>
                <a:latin typeface="Consolas"/>
              </a:rPr>
              <a:t>99.91 %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58568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1576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462C"/>
                </a:solidFill>
                <a:latin typeface="Consolas"/>
              </a:rPr>
              <a:t>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25496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Precision  (zero false positives in 1058)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82696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462C"/>
                </a:solidFill>
                <a:latin typeface="Consolas"/>
              </a:rPr>
              <a:t>0.958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92424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Recall  (23 of 24 WG flows caught)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9624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9462C"/>
                </a:solidFill>
                <a:latin typeface="Consolas"/>
              </a:rPr>
              <a:t>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95935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ROC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99432"/>
            <a:ext cx="5486400" cy="3175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9087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Adding more features does not help.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566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555"/>
                </a:solidFill>
                <a:latin typeface="Calibri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056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555"/>
                </a:solidFill>
                <a:latin typeface="Calibri"/>
              </a:rPr>
              <a:t>acc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056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555"/>
                </a:solidFill>
                <a:latin typeface="Calibri"/>
              </a:rPr>
              <a:t>prec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056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555"/>
                </a:solidFill>
                <a:latin typeface="Calibri"/>
              </a:rPr>
              <a:t>rec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30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alibri"/>
              </a:rPr>
              <a:t>RF, 2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330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0.999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330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1.000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30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0.958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052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alibri"/>
              </a:rPr>
              <a:t>RF, 8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6052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0.998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6052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1.000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6052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0.917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795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alibri"/>
              </a:rPr>
              <a:t>LR, 2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8795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0.969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8795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0.414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8795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01010"/>
                </a:solidFill>
                <a:latin typeface="Consolas"/>
              </a:rPr>
              <a:t>1.000</a:t>
            </a:r>
          </a:p>
        </p:txBody>
      </p:sp>
      <p:pic>
        <p:nvPicPr>
          <p:cNvPr id="32" name="Picture 31" descr="20260509-132138_classifier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401" y="1554480"/>
            <a:ext cx="2429691" cy="2125979"/>
          </a:xfrm>
          <a:prstGeom prst="rect">
            <a:avLst/>
          </a:prstGeom>
        </p:spPr>
      </p:pic>
      <p:pic>
        <p:nvPicPr>
          <p:cNvPr id="33" name="Picture 32" descr="20260509-132138_classifier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46" y="3863339"/>
            <a:ext cx="2733402" cy="21259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02A43"/>
                </a:solidFill>
                <a:latin typeface="Calibri"/>
              </a:rPr>
              <a:t>Where this sits in the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9144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Narrow contribution alongside the recent Xue et al. line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36432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2A43"/>
                </a:solidFill>
                <a:latin typeface="Calibri"/>
              </a:rPr>
              <a:t>Closely related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364327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Xue et al., USENIX Sec ’22.  Passive + active for OpenVPN. Methodological template.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Xue et al., USENIX Sec ’24.  Encapsulated TLS handshakes. Doesn’t fire on WireGuard (no nested TLS).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Xue et al., NDSS ’25.  Cross-layer RTT. Attenuated on UDP-only short flows.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Wu et al., USENIX Sec ’23.  GFW entropy detector for fully-encrypted protocols.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Alice et al., IMC ’20.  Shadowsocks active probes. Probe taxonomy.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Frolov &amp; Wustrow, NDSS ’20.  Probe-resistant proxy detection.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554480"/>
            <a:ext cx="536432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9462C"/>
                </a:solidFill>
                <a:latin typeface="Calibri"/>
              </a:rPr>
              <a:t>What this paper does NOT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965960"/>
            <a:ext cx="5364327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Single client/server pair. No ISP-scale deployment trace.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udp2raw v20230206.0 only. Later forks may behave differently.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Static defenses: a delayed-ACK patch + WG MTU below the bulk threshold weakens C2.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C1’s P3 (bogus ACK) is mildly hostile. Adversary should fire only at already-suspected hosts.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•   Not benchmarked against AmneziaWG, swgp-go, wstunnel. Future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02A43"/>
                </a:solidFill>
                <a:latin typeface="Calibri"/>
              </a:rPr>
              <a:t>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914400" cy="31750"/>
          </a:xfrm>
          <a:prstGeom prst="rect">
            <a:avLst/>
          </a:prstGeom>
          <a:solidFill>
            <a:srgbClr val="C94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02A43"/>
                </a:solidFill>
                <a:latin typeface="Calibri"/>
              </a:rPr>
              <a:t>WireGuard's wire format leaks.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A 25-line classifier handles bare WG. udp2raw is the deployed fix.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9462C"/>
                </a:solidFill>
                <a:latin typeface="Calibri"/>
              </a:rPr>
              <a:t>udp2raw doesn't actually fix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Five TCP probes in 8.5 seconds (C1).  Two flow features, RF, AUC = 1.0 (C2).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02A43"/>
                </a:solidFill>
                <a:latin typeface="Calibri"/>
              </a:rPr>
              <a:t>Both signals are structural.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udp2raw drops unfamiliar TCP shapes; WG pads to MTU; udp2raw acks 1:1. None are statistical luck.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9462C"/>
                </a:solidFill>
                <a:latin typeface="Calibri"/>
              </a:rPr>
              <a:t>Defenses are obvious; the upstream tool does not implement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834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01010"/>
                </a:solidFill>
                <a:latin typeface="Calibri"/>
              </a:rPr>
              <a:t>Delayed-ACK plus a sub-bulk WG MTU closes C2. More-conformant TCP emulation closes C1.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Code, configs, evidence, paper, and slides are in the project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Schiavone &amp; Johannsen   ·   CYB623   ·   Pace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263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